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4E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4E45"/>
                </a:solidFill>
                <a:latin typeface="Calibri"/>
              </a:rPr>
              <a:t>Antal bilder per kategori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Antal bilder</c:v>
                </c:pt>
              </c:strCache>
            </c:strRef>
          </c:tx>
          <c:spPr>
            <a:solidFill>
              <a:srgbClr val="2FBF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4E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</c:v>
                  </c:pt>
                  <c:pt idx="1">
                    <c:v>Recyclable</c:v>
                  </c:pt>
                  <c:pt idx="2">
                    <c:v>Organic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3961</c:v>
                </c:pt>
                <c:pt idx="1">
                  <c:v>9999</c:v>
                </c:pt>
                <c:pt idx="2">
                  <c:v>12567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4E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2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Transfer Learning</c:v>
                </c:pt>
              </c:strCache>
            </c:strRef>
          </c:tx>
          <c:spPr>
            <a:solidFill>
              <a:srgbClr val="2FBF83"/>
            </a:solidFill>
            <a:ln w="38100" cap="flat">
              <a:solidFill>
                <a:srgbClr val="2FBF83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726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BF83"/>
              </a:solidFill>
              <a:ln w="9525" cap="flat">
                <a:solidFill>
                  <a:srgbClr val="2FBF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500</c:v>
                  </c:pt>
                  <c:pt idx="3">
                    <c:v>2000</c:v>
                  </c:pt>
                  <c:pt idx="4">
                    <c:v>2773 (alla)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87.5</c:v>
                </c:pt>
                <c:pt idx="1">
                  <c:v>86.5</c:v>
                </c:pt>
                <c:pt idx="2">
                  <c:v>90.2</c:v>
                </c:pt>
                <c:pt idx="3">
                  <c:v>92.3</c:v>
                </c:pt>
                <c:pt idx="4">
                  <c:v>92.5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Scratch (från grunden)</c:v>
                </c:pt>
              </c:strCache>
            </c:strRef>
          </c:tx>
          <c:spPr>
            <a:solidFill>
              <a:srgbClr val="8CA3AA"/>
            </a:solidFill>
            <a:ln w="38100" cap="flat">
              <a:solidFill>
                <a:srgbClr val="8CA3A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F726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A3AA"/>
              </a:solidFill>
              <a:ln w="9525" cap="flat">
                <a:solidFill>
                  <a:srgbClr val="8CA3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500</c:v>
                  </c:pt>
                  <c:pt idx="3">
                    <c:v>2000</c:v>
                  </c:pt>
                  <c:pt idx="4">
                    <c:v>2773 (alla)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48.3</c:v>
                </c:pt>
                <c:pt idx="1">
                  <c:v>46.7</c:v>
                </c:pt>
                <c:pt idx="2">
                  <c:v>78.3</c:v>
                </c:pt>
                <c:pt idx="3">
                  <c:v>78</c:v>
                </c:pt>
                <c:pt idx="4">
                  <c:v>83.7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5F726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26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26C"/>
                    </a:solidFill>
                    <a:latin typeface="Arial"/>
                  </a:rPr>
                  <a:t>Bilder per kategori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F72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26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26C"/>
                    </a:solidFill>
                    <a:latin typeface="Arial"/>
                  </a:rPr>
                  <a:t>Validation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F72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726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1B6E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4E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(bara huvudet)</c:v>
                  </c:pt>
                  <c:pt idx="1">
                    <c:v>10 lager</c:v>
                  </c:pt>
                  <c:pt idx="2">
                    <c:v>30 lager</c:v>
                  </c:pt>
                  <c:pt idx="3">
                    <c:v>Alla 190 lager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92.7</c:v>
                </c:pt>
                <c:pt idx="1">
                  <c:v>92.8</c:v>
                </c:pt>
                <c:pt idx="2">
                  <c:v>93.4</c:v>
                </c:pt>
                <c:pt idx="3">
                  <c:v>93.3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34E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F72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9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34E4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34E45"/>
                </a:solidFill>
                <a:latin typeface="Calibri"/>
              </a:rPr>
              <a:t>Vanligaste förväxlingarna (av ca 3 400 bilder/kategori)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Feltolkade bilder</c:v>
                </c:pt>
              </c:strCache>
            </c:strRef>
          </c:tx>
          <c:spPr>
            <a:solidFill>
              <a:srgbClr val="1B6E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4E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 (av 594)</c:v>
                  </c:pt>
                  <c:pt idx="1">
                    <c:v>Organic → Recyclable</c:v>
                  </c:pt>
                  <c:pt idx="2">
                    <c:v>Recyclable → Organic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97</c:v>
                </c:pt>
                <c:pt idx="2">
                  <c:v>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34E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F72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2FBF8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120640" cy="5120640"/>
          </a:xfrm>
          <a:prstGeom prst="ellipse">
            <a:avLst/>
          </a:prstGeom>
          <a:solidFill>
            <a:srgbClr val="1B6E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F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SKOLPROJEKT · TILLÄMPAD AI, DATAUTVINNING, MASKININLÄRNING OCH DEEP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Avfallsklassificering med Transfer Learning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data behöver man egentligen?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5760720" cy="502920"/>
          </a:xfrm>
          <a:prstGeom prst="roundRect">
            <a:avLst>
              <a:gd name="adj" fmla="val 21818"/>
            </a:avLst>
          </a:prstGeom>
          <a:solidFill>
            <a:srgbClr val="12483F"/>
          </a:solidFill>
          <a:ln w="12700">
            <a:solidFill>
              <a:srgbClr val="2FBF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6235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Fjellström   ·   Anton Hergefelt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augusti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49324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493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 sortering kostar - i pengar, miljö och tid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865376"/>
            <a:ext cx="10387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Ekonomisk kostnad.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avfall sorteras fel kostar det pengar för återvinningsföretag - i extra hantering, kasserade råvaror och stopp i processen.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916936"/>
            <a:ext cx="10387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Miljö- och säkerhetsrisk.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som hamnar i fel soptunna kan skada både utrustning och miljö - batterier och tungmetaller är farliga ämnen.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23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3968496"/>
            <a:ext cx="10387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Mänsklig variation.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sortering är arbetsintensiv, och feltoleransen hos människor varierar från person till person och timme till timme.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3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5577840"/>
            <a:ext cx="274320" cy="2743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330952"/>
            <a:ext cx="101315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Fråga till er: kan AI hjälpa till att sortera rätt - eller åtminstone dubbelkolla det en människa redan gjort?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VÅR IDÉ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Learning: låna kunskap istället för att börja 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Istället för att träna en AI-modell från noll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lånar vi en modell som redan är bra på att känna igen saker i bilder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(tränad på miljontals bilder sedan tidigare) - och lär om den till vår uppgift: att känna igen avfall.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frågor vi ville besvara, i prioritetsordning: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364845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data behövs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jämfört med att träna en modell från grunden?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17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456285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 mycket av den lånade modellen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behöver vi faktiskt ändra?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532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296" y="547725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Vilka felgissningar är farligast,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hur borde det påverka hur modellen används?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26 527 bilder, tre kategorier - och en tydlig obalans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911096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Kaggle-datasetet “waste-classification-dataset”.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825496"/>
            <a:ext cx="5632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Kategorier.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(återvinningsbart), Electronic (elektronik), Organic (organiskt).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3877056"/>
            <a:ext cx="5632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Obalans.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har färre bilder (3 961) än Recyclable (9 999) och Organic (12 567).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296" y="4928616"/>
            <a:ext cx="5632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Uppdelning.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träning, 15% validering, 15% test - egen uppdelning.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78040" y="1920240"/>
          <a:ext cx="4480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00884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008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&amp; ARKITEKTUR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förtränad bas, ett eget klassificeringshuvud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91109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Basmodell.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ResNet50V2, förtränad på ImageNet (1000 kategorier - hundar, bilar, stolar - miljontals bilder).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87121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Eget huvud.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Sista klassificeringslagret byttes ut: GlobalAveragePooling → Dense 128 → BatchNormalization → Dropout → Dense 3 kategorier.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383133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Jämförelsemodell.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enkel CNN byggd och tränad helt från noll (“scratch”), med samma klassificeringshuvud för rättvis jämförelse.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296" y="479145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Träningsstrategi.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Tvåstegs finetuning: frys hela basen och träna bara huvudet först, tina sedan upp de sista lagren och fortsätt träna med lägre learning rate.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95728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· FRÅGA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Hur mycket data behövs?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78308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8F6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19202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bara 50 bilder/kategori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F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87,5%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Scratch: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8C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48,3%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92440" y="338328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8F6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352044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Slumpen (3 klasser)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ligger på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scratch-modellen är knappt bättre än att gissa vid liten data.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03504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3F8F6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6217920"/>
            <a:ext cx="274320" cy="2743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6108192"/>
            <a:ext cx="10314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är redan nästan i mål med bara 50 bilder/kategori - scratch-modellen kommer aldrig ikapp fullt ut. Detta är projektets viktigaste insikt.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95728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· FRÅGA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Hur mycket av modellen behöver ändras?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1264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429000" y="18745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FBF83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bäst: 93,4%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03720" y="18745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1874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0376" y="1819656"/>
            <a:ext cx="4078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Generella mönster längst fram.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första lagren i ResNet50V2 har lärt sig kanter, färger och former som fungerar oavsett uppgift - de behöver inte röras.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03720" y="306324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063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80376" y="3008376"/>
            <a:ext cx="4078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Specialisering längst bak.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sista lagren är mer specialiserade och vinner på att anpassas till just avfallsbilder.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03720" y="42519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0376" y="4197096"/>
            <a:ext cx="4078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är inte alltid bättre.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tina upp alla 190 lager gav marginellt sämre resultat (93,3%) än att tina upp 30 (93,4%).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95728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· FRÅGA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kostar ett misstag?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Slutmodellen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(2 773 bilder/kategori, 30 upptinade lager)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nådde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träffsäkerhet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på ett osett testset med 3 978 bilder.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0E3B3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B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för Electronic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19 av 594 elektronikbilder feltolkades - den farligaste kategorin klassificeras nästan alltid rätt.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434840" y="2423160"/>
          <a:ext cx="7223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434840" y="553212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F3F8F6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5783580"/>
            <a:ext cx="274320" cy="2743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5605272"/>
            <a:ext cx="6263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farligaste och dyraste felet - elektronik i fel ström - är exakt det felet modellen gör minst av. Goda nyheter för ett återvinningsföretag.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59636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596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PRAKTIKEN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betyder resultaten för hur modellen används?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2048256"/>
            <a:ext cx="10387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 för elektronik.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Låt modellen agera mer autonomt för Electronic-kategorin, där tillförlitligheten är som högst.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3236976"/>
            <a:ext cx="10387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Mänsklig dubbelkoll vid gränsfall.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Flagga osäkra gränsfall mellan Recyclable och Organic för manuell granskning.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4425696"/>
            <a:ext cx="10387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filter, inte en ersättning.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fungerar som ett smart filter som avlastar sorteringen - inte som en fullständig ersättning för mänsklig sortering överallt.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59636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596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AFFÄRSNYTTA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ger det ett återvinningsföretag?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3F8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Snabbare sortering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278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Bedömning på millisekunder, dygnet runt.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3F8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Konsekvent kvalitet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2278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 standard varje gång - ingen mänsklig trötthet.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3F8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Låg datakostnad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5138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 vare transfer learning räcker några hundra bilder per kategori för att komma igång, inte tiotusentals.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3F8F6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526280"/>
            <a:ext cx="502920" cy="502920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166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Riktad tillit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551383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Starkast på den farligaste kategorin - säker att lita på där det spelar mest roll.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9948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699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BEGRÄNSNINGAR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är ärliga om vad som återstår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1B6E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865376"/>
            <a:ext cx="103875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Kaggle-bilder, inte skarpt läge.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Tränad på Kaggle-bilder, inte verkliga bilder från en sorteringsanläggning (annan belysning, bakgrund, skymda föremål) - kan prestera sämre utan vidare anpassning.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" cy="420624"/>
          </a:xfrm>
          <a:prstGeom prst="ellipse">
            <a:avLst/>
          </a:prstGeom>
          <a:solidFill>
            <a:srgbClr val="1B6E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87121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Grova kategorier.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tre breda kategorier - verkligheten kräver troligen finare underkategorier, till exempel olika plasttyper.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20624" cy="420624"/>
          </a:xfrm>
          <a:prstGeom prst="ellipse">
            <a:avLst/>
          </a:prstGeom>
          <a:solidFill>
            <a:srgbClr val="1B6E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378561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Klassobalans.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Obalans i grunddata - färre Electronic-bilder än övriga kategorier.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20624" cy="420624"/>
          </a:xfrm>
          <a:prstGeom prst="ellipse">
            <a:avLst/>
          </a:prstGeom>
          <a:solidFill>
            <a:srgbClr val="1B6E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54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296" y="470001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enda uppdelning.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Utvärderingen bygger på en enda train/val/test-uppdelning.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FBF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SLUTSATS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Svaren på våra tre frågor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91109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kräver drastiskt mindre data än att träna från grunden.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296" y="282549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Omträning.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Rätt mängd omträning - inte för lite, inte för mycket - ger bäst resultat.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20624" cy="420624"/>
          </a:xfrm>
          <a:prstGeom prst="ellipse">
            <a:avLst/>
          </a:prstGeom>
          <a:solidFill>
            <a:srgbClr val="2FBF8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5296" y="3739896"/>
            <a:ext cx="10387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Tillförlitlighet.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är som mest pålitlig exakt där felkostnaden är som högst.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E3B3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8348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F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 för bolaget: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snabbare, billigare att komma igång med, och pålitlig där det spelar mest roll.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Avfallsklassificering med Transfer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2FBF8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120640" cy="5120640"/>
          </a:xfrm>
          <a:prstGeom prst="ellipse">
            <a:avLst/>
          </a:prstGeom>
          <a:solidFill>
            <a:srgbClr val="1B6E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Tack för oss!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FB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Frågor?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5760720" cy="502920"/>
          </a:xfrm>
          <a:prstGeom prst="roundRect">
            <a:avLst>
              <a:gd name="adj" fmla="val 21818"/>
            </a:avLst>
          </a:prstGeom>
          <a:solidFill>
            <a:srgbClr val="12483F"/>
          </a:solidFill>
          <a:ln w="12700">
            <a:solidFill>
              <a:srgbClr val="2FB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Fjellström   ·   Anton Hergefelt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Tillämpad AI, datautvinning, maskininlärning och deep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2026-08-22T12:26:45Z</dcterms:created>
  <dcterms:modified xsi:type="dcterms:W3CDTF">2026-08-22T12:26:45Z</dcterms:modified>
</cp:coreProperties>
</file>